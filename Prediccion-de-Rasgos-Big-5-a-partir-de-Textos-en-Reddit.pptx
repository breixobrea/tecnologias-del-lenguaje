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ora"/>
      <p:regular r:id="rId14"/>
    </p:embeddedFon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Source Sans 3"/>
      <p:regular r:id="rId18"/>
    </p:embeddedFont>
    <p:embeddedFont>
      <p:font typeface="Source Sans 3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41078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Predicción de Rasgos Big-5 a partir de Textos en Reddit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8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6378" y="612815"/>
            <a:ext cx="7584043" cy="131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Fase Crucial: Limpieza de Datos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66378" y="2257901"/>
            <a:ext cx="3680579" cy="2750820"/>
          </a:xfrm>
          <a:prstGeom prst="roundRect">
            <a:avLst>
              <a:gd name="adj" fmla="val 5319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35898" y="2257901"/>
            <a:ext cx="121920" cy="2750820"/>
          </a:xfrm>
          <a:prstGeom prst="roundRect">
            <a:avLst>
              <a:gd name="adj" fmla="val 27420"/>
            </a:avLst>
          </a:prstGeom>
          <a:solidFill>
            <a:srgbClr val="38512F"/>
          </a:solidFill>
          <a:ln/>
        </p:spPr>
      </p:sp>
      <p:sp>
        <p:nvSpPr>
          <p:cNvPr id="6" name="Text 3"/>
          <p:cNvSpPr/>
          <p:nvPr/>
        </p:nvSpPr>
        <p:spPr>
          <a:xfrm>
            <a:off x="6611064" y="2511147"/>
            <a:ext cx="2865120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Unificación de Formato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611064" y="2972514"/>
            <a:ext cx="3082647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Convertimos los datos a un estándar CSV (RFC 4180) para una gestión eficiente.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9723" y="2257901"/>
            <a:ext cx="3680698" cy="2750820"/>
          </a:xfrm>
          <a:prstGeom prst="roundRect">
            <a:avLst>
              <a:gd name="adj" fmla="val 5319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9243" y="2257901"/>
            <a:ext cx="121920" cy="2750820"/>
          </a:xfrm>
          <a:prstGeom prst="roundRect">
            <a:avLst>
              <a:gd name="adj" fmla="val 27420"/>
            </a:avLst>
          </a:prstGeom>
          <a:solidFill>
            <a:srgbClr val="38512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4409" y="2511147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Limpieza Semántica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514409" y="2972514"/>
            <a:ext cx="3082766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Usamos el modelo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all-mpnet-base-v2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comparar la similitud entre frases del cuestionario NEO-FFI Big-5 y posts de usuarios.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6378" y="5231487"/>
            <a:ext cx="3680579" cy="2394228"/>
          </a:xfrm>
          <a:prstGeom prst="roundRect">
            <a:avLst>
              <a:gd name="adj" fmla="val 6111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5898" y="5231487"/>
            <a:ext cx="121920" cy="2394228"/>
          </a:xfrm>
          <a:prstGeom prst="roundRect">
            <a:avLst>
              <a:gd name="adj" fmla="val 27420"/>
            </a:avLst>
          </a:prstGeom>
          <a:solidFill>
            <a:srgbClr val="38512F"/>
          </a:solidFill>
          <a:ln/>
        </p:spPr>
      </p:sp>
      <p:sp>
        <p:nvSpPr>
          <p:cNvPr id="14" name="Text 11"/>
          <p:cNvSpPr/>
          <p:nvPr/>
        </p:nvSpPr>
        <p:spPr>
          <a:xfrm>
            <a:off x="6611064" y="5484733"/>
            <a:ext cx="269426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Umbrales de Similitud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611064" y="5946100"/>
            <a:ext cx="3082647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Aplicamos varios umbrales de similitud mínima para refinar y garantizar la calidad de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92191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Punto de Partida: Baseline Inicial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76701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establecer nuestra referencia,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calculamos e imputamos la media por cada rasgo de personalidad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158133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Error Cuadrático Medio (MSE) promedio para los cinco rasgos fue de: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780473"/>
            <a:ext cx="7539395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50"/>
              </a:lnSpc>
              <a:buNone/>
            </a:pPr>
            <a:r>
              <a:rPr lang="en-US" sz="8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913.8590</a:t>
            </a:r>
            <a:endParaRPr lang="en-US" sz="8850" dirty="0"/>
          </a:p>
        </p:txBody>
      </p:sp>
      <p:sp>
        <p:nvSpPr>
          <p:cNvPr id="6" name="Text 4"/>
          <p:cNvSpPr/>
          <p:nvPr/>
        </p:nvSpPr>
        <p:spPr>
          <a:xfrm>
            <a:off x="837724" y="5427821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Este valor nos sirve como base para evaluar la mejora de nuestras soluciones avanzadas.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1028" y="655796"/>
            <a:ext cx="6955631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Nuestra Estrategia Óptima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1028" y="1714857"/>
            <a:ext cx="7474744" cy="1794629"/>
          </a:xfrm>
          <a:prstGeom prst="roundRect">
            <a:avLst>
              <a:gd name="adj" fmla="val 1993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51508" y="1745337"/>
            <a:ext cx="238482" cy="1733669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6828473" y="1983819"/>
            <a:ext cx="3327797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Recálculo de Embeddings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28473" y="2477572"/>
            <a:ext cx="6936819" cy="76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Generamos embeddings de posts con MPNet y los agregamos por usuario.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678692" y="3747968"/>
            <a:ext cx="7117080" cy="1794629"/>
          </a:xfrm>
          <a:prstGeom prst="roundRect">
            <a:avLst>
              <a:gd name="adj" fmla="val 1993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09172" y="3778448"/>
            <a:ext cx="238482" cy="1733669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7186136" y="4016931"/>
            <a:ext cx="3536513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Entrenamiento de Modelos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86136" y="4510683"/>
            <a:ext cx="6579156" cy="76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Entrenamos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RandomForest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Ridge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cada rasgo y umbral.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036475" y="5781080"/>
            <a:ext cx="6759297" cy="1794629"/>
          </a:xfrm>
          <a:prstGeom prst="roundRect">
            <a:avLst>
              <a:gd name="adj" fmla="val 1993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66955" y="5811560"/>
            <a:ext cx="238482" cy="1733669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4" name="Text 11"/>
          <p:cNvSpPr/>
          <p:nvPr/>
        </p:nvSpPr>
        <p:spPr>
          <a:xfrm>
            <a:off x="7543919" y="6050042"/>
            <a:ext cx="3329464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Ensemble Basado en MSE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43919" y="6543794"/>
            <a:ext cx="6221373" cy="76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Creamos un ensemble combinando los mejores valores MSE de validación.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146" y="468392"/>
            <a:ext cx="9196030" cy="5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Alternativas Exploradas: BoW y Ensemble Híbrido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46" y="1416368"/>
            <a:ext cx="6511290" cy="6511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30584" y="1378029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530584" y="1803797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30584" y="2229564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30584" y="2655332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Utilizamos posts de usuarios que revelan sus rasgos Big-5.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30584" y="2987397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</a:t>
            </a:r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extrae información clave de los rasgos de interés.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30584" y="3319463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usuarios sin datos explícitos, reutilizamos nuestro ensemble principal.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30584" y="3651528"/>
            <a:ext cx="6511290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 solución, aunque eficaz, incurre en </a:t>
            </a:r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leakage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6146" y="8310801"/>
            <a:ext cx="13438108" cy="723662"/>
          </a:xfrm>
          <a:prstGeom prst="roundRect">
            <a:avLst>
              <a:gd name="adj" fmla="val 3531"/>
            </a:avLst>
          </a:prstGeom>
          <a:solidFill>
            <a:srgbClr val="D4E3C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05" y="8557379"/>
            <a:ext cx="212884" cy="1702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9548" y="8523565"/>
            <a:ext cx="12714446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¡Cuidado con la "solución trampa"! Aunque prometedora, el data leakage puede comprometer la generalización.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636" y="555903"/>
            <a:ext cx="9042440" cy="59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Exploración Avanzada: Fine-tuning de T5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621" y="1679496"/>
            <a:ext cx="3930134" cy="52623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636" y="7168872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569160" y="1634133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9160" y="2138839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69160" y="2643545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69160" y="3148251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Fine-tuning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un modelo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Text-to-Text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 arquitectura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Transformer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9160" y="3541871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modelo recibe un prompt y predice un valor para un rasgo específico.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9160" y="3935492"/>
            <a:ext cx="6362224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Intentamos ajustar un modelo de lenguaje grande a nuestro problema.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9160" y="4329113"/>
            <a:ext cx="6362224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 embargo, no logró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ajustarse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correctamente a la complejidad del problema.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3763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Conclusiones Clave del Proyecto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04636"/>
            <a:ext cx="7468553" cy="4387215"/>
          </a:xfrm>
          <a:prstGeom prst="roundRect">
            <a:avLst>
              <a:gd name="adj" fmla="val 818"/>
            </a:avLst>
          </a:prstGeom>
          <a:solidFill>
            <a:srgbClr val="F3E7D4"/>
          </a:solidFill>
          <a:ln/>
        </p:spPr>
      </p:sp>
      <p:sp>
        <p:nvSpPr>
          <p:cNvPr id="5" name="Shape 2"/>
          <p:cNvSpPr/>
          <p:nvPr/>
        </p:nvSpPr>
        <p:spPr>
          <a:xfrm>
            <a:off x="837724" y="2804636"/>
            <a:ext cx="3734276" cy="2576632"/>
          </a:xfrm>
          <a:prstGeom prst="roundRect">
            <a:avLst>
              <a:gd name="adj" fmla="val 1394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1077039" y="3043952"/>
            <a:ext cx="325564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Solución Clásica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77039" y="3609856"/>
            <a:ext cx="325564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ensemble de regresores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demostró ser la aproximación más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satisfactoria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572000" y="2804636"/>
            <a:ext cx="3734276" cy="2576632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804636"/>
            <a:ext cx="30480" cy="2576632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0" name="Text 7"/>
          <p:cNvSpPr/>
          <p:nvPr/>
        </p:nvSpPr>
        <p:spPr>
          <a:xfrm>
            <a:off x="4811316" y="3043952"/>
            <a:ext cx="325564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Solución "Tramposa"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4811316" y="3609856"/>
            <a:ext cx="325564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Aprovechar el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leakage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ensemble obtuvo buenos resultados, pero no es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adecuada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despliegues.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381268"/>
            <a:ext cx="7468553" cy="1810583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3" name="Shape 10"/>
          <p:cNvSpPr/>
          <p:nvPr/>
        </p:nvSpPr>
        <p:spPr>
          <a:xfrm>
            <a:off x="837724" y="5381268"/>
            <a:ext cx="7468553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4" name="Text 11"/>
          <p:cNvSpPr/>
          <p:nvPr/>
        </p:nvSpPr>
        <p:spPr>
          <a:xfrm>
            <a:off x="1077039" y="5620583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Solución Sofisticada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077039" y="6186488"/>
            <a:ext cx="69899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fine-tuning de T5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logró ajustarse correctamente al problema planteado.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2025-12-03T11:06:04Z</dcterms:created>
  <dcterms:modified xsi:type="dcterms:W3CDTF">2025-12-03T11:06:04Z</dcterms:modified>
</cp:coreProperties>
</file>