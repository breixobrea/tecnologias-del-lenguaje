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4630400" cy="8229600"/>
  <p:notesSz cx="8229600" cy="14630400"/>
  <p:embeddedFontLst>
    <p:embeddedFont>
      <p:font typeface="Lora"/>
      <p:regular r:id="rId14"/>
    </p:embeddedFont>
    <p:embeddedFont>
      <p:font typeface="Lora"/>
      <p:regular r:id="rId15"/>
    </p:embeddedFont>
    <p:embeddedFont>
      <p:font typeface="Lora"/>
      <p:regular r:id="rId16"/>
    </p:embeddedFont>
    <p:embeddedFont>
      <p:font typeface="Lora"/>
      <p:regular r:id="rId17"/>
    </p:embeddedFont>
    <p:embeddedFont>
      <p:font typeface="Source Sans 3"/>
      <p:regular r:id="rId18"/>
    </p:embeddedFont>
    <p:embeddedFont>
      <p:font typeface="Source Sans 3"/>
      <p:regular r:id="rId19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3-1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4-1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5-1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7-1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8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7724" y="3410783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44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Predicción de Rasgos Big-5 a partir de Textos en Reddit</a:t>
            </a: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3853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66378" y="612815"/>
            <a:ext cx="7584043" cy="1310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50"/>
              </a:lnSpc>
              <a:buNone/>
            </a:pPr>
            <a:r>
              <a:rPr lang="en-US" sz="41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Fase Crucial: Limpieza de Datos</a:t>
            </a:r>
            <a:endParaRPr lang="en-US" sz="4100" dirty="0"/>
          </a:p>
        </p:txBody>
      </p:sp>
      <p:sp>
        <p:nvSpPr>
          <p:cNvPr id="4" name="Shape 1"/>
          <p:cNvSpPr/>
          <p:nvPr/>
        </p:nvSpPr>
        <p:spPr>
          <a:xfrm>
            <a:off x="6266378" y="2257901"/>
            <a:ext cx="3680579" cy="2750820"/>
          </a:xfrm>
          <a:prstGeom prst="roundRect">
            <a:avLst>
              <a:gd name="adj" fmla="val 5319"/>
            </a:avLst>
          </a:prstGeom>
          <a:solidFill>
            <a:srgbClr val="FEF5E7"/>
          </a:solidFill>
          <a:ln w="30480">
            <a:solidFill>
              <a:srgbClr val="D9CDB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235898" y="2257901"/>
            <a:ext cx="121920" cy="2750820"/>
          </a:xfrm>
          <a:prstGeom prst="roundRect">
            <a:avLst>
              <a:gd name="adj" fmla="val 27420"/>
            </a:avLst>
          </a:prstGeom>
          <a:solidFill>
            <a:srgbClr val="38512F"/>
          </a:solidFill>
          <a:ln/>
        </p:spPr>
      </p:sp>
      <p:sp>
        <p:nvSpPr>
          <p:cNvPr id="6" name="Text 3"/>
          <p:cNvSpPr/>
          <p:nvPr/>
        </p:nvSpPr>
        <p:spPr>
          <a:xfrm>
            <a:off x="6611064" y="2511147"/>
            <a:ext cx="2865120" cy="327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Unificación de Formato</a:t>
            </a:r>
            <a:endParaRPr lang="en-US" sz="2050" dirty="0"/>
          </a:p>
        </p:txBody>
      </p:sp>
      <p:sp>
        <p:nvSpPr>
          <p:cNvPr id="7" name="Text 4"/>
          <p:cNvSpPr/>
          <p:nvPr/>
        </p:nvSpPr>
        <p:spPr>
          <a:xfrm>
            <a:off x="6611064" y="2972514"/>
            <a:ext cx="3082647" cy="10697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Convertimos los datos a un estándar CSV (RFC 4180) para una gestión eficiente.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10169723" y="2257901"/>
            <a:ext cx="3680698" cy="2750820"/>
          </a:xfrm>
          <a:prstGeom prst="roundRect">
            <a:avLst>
              <a:gd name="adj" fmla="val 5319"/>
            </a:avLst>
          </a:prstGeom>
          <a:solidFill>
            <a:srgbClr val="FEF5E7"/>
          </a:solidFill>
          <a:ln w="30480">
            <a:solidFill>
              <a:srgbClr val="D9CDB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39243" y="2257901"/>
            <a:ext cx="121920" cy="2750820"/>
          </a:xfrm>
          <a:prstGeom prst="roundRect">
            <a:avLst>
              <a:gd name="adj" fmla="val 27420"/>
            </a:avLst>
          </a:prstGeom>
          <a:solidFill>
            <a:srgbClr val="38512F"/>
          </a:solidFill>
          <a:ln/>
        </p:spPr>
      </p:sp>
      <p:sp>
        <p:nvSpPr>
          <p:cNvPr id="10" name="Text 7"/>
          <p:cNvSpPr/>
          <p:nvPr/>
        </p:nvSpPr>
        <p:spPr>
          <a:xfrm>
            <a:off x="10514409" y="2511147"/>
            <a:ext cx="2621994" cy="327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Limpieza Semántica</a:t>
            </a:r>
            <a:endParaRPr lang="en-US" sz="2050" dirty="0"/>
          </a:p>
        </p:txBody>
      </p:sp>
      <p:sp>
        <p:nvSpPr>
          <p:cNvPr id="11" name="Text 8"/>
          <p:cNvSpPr/>
          <p:nvPr/>
        </p:nvSpPr>
        <p:spPr>
          <a:xfrm>
            <a:off x="10514409" y="2972514"/>
            <a:ext cx="3082766" cy="1782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Usamos el modelo </a:t>
            </a:r>
            <a:pPr algn="l" indent="0" marL="0">
              <a:lnSpc>
                <a:spcPts val="2800"/>
              </a:lnSpc>
              <a:buNone/>
            </a:pPr>
            <a:r>
              <a:rPr lang="en-US" sz="17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all-mpnet-base-v2</a:t>
            </a:r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comparar la similitud entre frases del cuestionario NEO-FFI Big-5 y posts de usuarios.</a:t>
            </a:r>
            <a:endParaRPr lang="en-US" sz="1750" dirty="0"/>
          </a:p>
        </p:txBody>
      </p:sp>
      <p:sp>
        <p:nvSpPr>
          <p:cNvPr id="12" name="Shape 9"/>
          <p:cNvSpPr/>
          <p:nvPr/>
        </p:nvSpPr>
        <p:spPr>
          <a:xfrm>
            <a:off x="6266378" y="5231487"/>
            <a:ext cx="3680579" cy="2394228"/>
          </a:xfrm>
          <a:prstGeom prst="roundRect">
            <a:avLst>
              <a:gd name="adj" fmla="val 6111"/>
            </a:avLst>
          </a:prstGeom>
          <a:solidFill>
            <a:srgbClr val="FEF5E7"/>
          </a:solidFill>
          <a:ln w="30480">
            <a:solidFill>
              <a:srgbClr val="D9CDB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35898" y="5231487"/>
            <a:ext cx="121920" cy="2394228"/>
          </a:xfrm>
          <a:prstGeom prst="roundRect">
            <a:avLst>
              <a:gd name="adj" fmla="val 27420"/>
            </a:avLst>
          </a:prstGeom>
          <a:solidFill>
            <a:srgbClr val="38512F"/>
          </a:solidFill>
          <a:ln/>
        </p:spPr>
      </p:sp>
      <p:sp>
        <p:nvSpPr>
          <p:cNvPr id="14" name="Text 11"/>
          <p:cNvSpPr/>
          <p:nvPr/>
        </p:nvSpPr>
        <p:spPr>
          <a:xfrm>
            <a:off x="6611064" y="5484733"/>
            <a:ext cx="2694265" cy="327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205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Umbrales de Similitud</a:t>
            </a:r>
            <a:endParaRPr lang="en-US" sz="2050" dirty="0"/>
          </a:p>
        </p:txBody>
      </p:sp>
      <p:sp>
        <p:nvSpPr>
          <p:cNvPr id="15" name="Text 12"/>
          <p:cNvSpPr/>
          <p:nvPr/>
        </p:nvSpPr>
        <p:spPr>
          <a:xfrm>
            <a:off x="6611064" y="5946100"/>
            <a:ext cx="3082647" cy="1426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7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Aplicamos varios umbrales de similitud mínima para refinar y garantizar la calidad de los datos.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98327"/>
            <a:ext cx="921912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44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El Punto de Partida: Baseline Inicial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37724" y="2176701"/>
            <a:ext cx="753939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Para establecer nuestra referencia, </a:t>
            </a:r>
            <a:pPr algn="l" indent="0" marL="0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calculamos e imputamos la media por cada rasgo de personalidad</a:t>
            </a:r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837724" y="3158133"/>
            <a:ext cx="753939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Error Cuadrático Medio (MSE) promedio para los cinco rasgos fue de: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37724" y="3780473"/>
            <a:ext cx="7539395" cy="140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50"/>
              </a:lnSpc>
              <a:buNone/>
            </a:pPr>
            <a:r>
              <a:rPr lang="en-US" sz="88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913.8590</a:t>
            </a:r>
            <a:endParaRPr lang="en-US" sz="8850" dirty="0"/>
          </a:p>
        </p:txBody>
      </p:sp>
      <p:sp>
        <p:nvSpPr>
          <p:cNvPr id="6" name="Text 4"/>
          <p:cNvSpPr/>
          <p:nvPr/>
        </p:nvSpPr>
        <p:spPr>
          <a:xfrm>
            <a:off x="837724" y="5427821"/>
            <a:ext cx="753939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Este valor nos sirve como base para evaluar la mejora de nuestras soluciones avanzadas.</a:t>
            </a:r>
            <a:endParaRPr lang="en-US" sz="18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8621" y="2230517"/>
            <a:ext cx="4831556" cy="4831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315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21028" y="655796"/>
            <a:ext cx="6955631" cy="701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44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Nuestra Estrategia Óptima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6321028" y="1714857"/>
            <a:ext cx="7474744" cy="1794629"/>
          </a:xfrm>
          <a:prstGeom prst="roundRect">
            <a:avLst>
              <a:gd name="adj" fmla="val 1993"/>
            </a:avLst>
          </a:prstGeom>
          <a:solidFill>
            <a:srgbClr val="FEF5E7"/>
          </a:solidFill>
          <a:ln w="30480">
            <a:solidFill>
              <a:srgbClr val="D9CDB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351508" y="1745337"/>
            <a:ext cx="238482" cy="1733669"/>
          </a:xfrm>
          <a:prstGeom prst="rect">
            <a:avLst/>
          </a:prstGeom>
          <a:solidFill>
            <a:srgbClr val="F3E7D4"/>
          </a:solidFill>
          <a:ln/>
        </p:spPr>
      </p:sp>
      <p:sp>
        <p:nvSpPr>
          <p:cNvPr id="6" name="Text 3"/>
          <p:cNvSpPr/>
          <p:nvPr/>
        </p:nvSpPr>
        <p:spPr>
          <a:xfrm>
            <a:off x="6828473" y="1983819"/>
            <a:ext cx="3327797" cy="350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Recálculo de Embeddings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828473" y="2477572"/>
            <a:ext cx="6936819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Generamos embeddings de posts con MPNet y los agregamos por usuario.</a:t>
            </a:r>
            <a:endParaRPr lang="en-US" sz="1850" dirty="0"/>
          </a:p>
        </p:txBody>
      </p:sp>
      <p:sp>
        <p:nvSpPr>
          <p:cNvPr id="8" name="Shape 5"/>
          <p:cNvSpPr/>
          <p:nvPr/>
        </p:nvSpPr>
        <p:spPr>
          <a:xfrm>
            <a:off x="6678692" y="3747968"/>
            <a:ext cx="7117080" cy="1794629"/>
          </a:xfrm>
          <a:prstGeom prst="roundRect">
            <a:avLst>
              <a:gd name="adj" fmla="val 1993"/>
            </a:avLst>
          </a:prstGeom>
          <a:solidFill>
            <a:srgbClr val="FEF5E7"/>
          </a:solidFill>
          <a:ln w="30480">
            <a:solidFill>
              <a:srgbClr val="D9CDB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09172" y="3778448"/>
            <a:ext cx="238482" cy="1733669"/>
          </a:xfrm>
          <a:prstGeom prst="rect">
            <a:avLst/>
          </a:prstGeom>
          <a:solidFill>
            <a:srgbClr val="F3E7D4"/>
          </a:solidFill>
          <a:ln/>
        </p:spPr>
      </p:sp>
      <p:sp>
        <p:nvSpPr>
          <p:cNvPr id="10" name="Text 7"/>
          <p:cNvSpPr/>
          <p:nvPr/>
        </p:nvSpPr>
        <p:spPr>
          <a:xfrm>
            <a:off x="7186136" y="4016931"/>
            <a:ext cx="3536513" cy="350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Entrenamiento de Modelos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186136" y="4510683"/>
            <a:ext cx="6579156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Entrenamos </a:t>
            </a:r>
            <a:pPr algn="l" indent="0" marL="0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RandomForest</a:t>
            </a:r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pPr algn="l" indent="0" marL="0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XGBoost</a:t>
            </a:r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y </a:t>
            </a:r>
            <a:pPr algn="l" indent="0" marL="0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Ridge</a:t>
            </a:r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cada rasgo y umbral.</a:t>
            </a:r>
            <a:endParaRPr lang="en-US" sz="1850" dirty="0"/>
          </a:p>
        </p:txBody>
      </p:sp>
      <p:sp>
        <p:nvSpPr>
          <p:cNvPr id="12" name="Shape 9"/>
          <p:cNvSpPr/>
          <p:nvPr/>
        </p:nvSpPr>
        <p:spPr>
          <a:xfrm>
            <a:off x="7036475" y="5781080"/>
            <a:ext cx="6759297" cy="1794629"/>
          </a:xfrm>
          <a:prstGeom prst="roundRect">
            <a:avLst>
              <a:gd name="adj" fmla="val 1993"/>
            </a:avLst>
          </a:prstGeom>
          <a:solidFill>
            <a:srgbClr val="FEF5E7"/>
          </a:solidFill>
          <a:ln w="30480">
            <a:solidFill>
              <a:srgbClr val="D9CDB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066955" y="5811560"/>
            <a:ext cx="238482" cy="1733669"/>
          </a:xfrm>
          <a:prstGeom prst="rect">
            <a:avLst/>
          </a:prstGeom>
          <a:solidFill>
            <a:srgbClr val="F3E7D4"/>
          </a:solidFill>
          <a:ln/>
        </p:spPr>
      </p:sp>
      <p:sp>
        <p:nvSpPr>
          <p:cNvPr id="14" name="Text 11"/>
          <p:cNvSpPr/>
          <p:nvPr/>
        </p:nvSpPr>
        <p:spPr>
          <a:xfrm>
            <a:off x="7543919" y="6050042"/>
            <a:ext cx="3329464" cy="350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Ensemble Basado en MSE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543919" y="6543794"/>
            <a:ext cx="6221373" cy="762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Creamos un ensemble combinando los mejores valores MSE de validación.</a:t>
            </a:r>
            <a:endParaRPr lang="en-US" sz="1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146" y="468392"/>
            <a:ext cx="9196030" cy="50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5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Alternativas Exploradas: BoW y Ensemble Híbrido</a:t>
            </a:r>
            <a:endParaRPr lang="en-US" sz="31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146" y="1416368"/>
            <a:ext cx="6511290" cy="65112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530584" y="1378029"/>
            <a:ext cx="6511290" cy="27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Utilizamos posts de usuarios que revelan sus rasgos Big-5.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530584" y="1710095"/>
            <a:ext cx="6511290" cy="27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 </a:t>
            </a:r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LLM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extrae información clave de los rasgos de interés.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530584" y="2042160"/>
            <a:ext cx="6511290" cy="27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Para usuarios sin datos explícitos, reutilizamos nuestro ensemble principal.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530584" y="2374225"/>
            <a:ext cx="6511290" cy="27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Esta solución, aunque eficaz, incurre en </a:t>
            </a:r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 leakage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96146" y="8310801"/>
            <a:ext cx="13438108" cy="723662"/>
          </a:xfrm>
          <a:prstGeom prst="roundRect">
            <a:avLst>
              <a:gd name="adj" fmla="val 3531"/>
            </a:avLst>
          </a:prstGeom>
          <a:solidFill>
            <a:srgbClr val="D4E3C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05" y="8557379"/>
            <a:ext cx="212884" cy="17025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9548" y="8523565"/>
            <a:ext cx="12714446" cy="27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¡Cuidado con la "solución trampa"! Aunque prometedora, el data leakage puede comprometer la generalización.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636" y="555903"/>
            <a:ext cx="9042440" cy="593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50"/>
              </a:lnSpc>
              <a:buNone/>
            </a:pPr>
            <a:r>
              <a:rPr lang="en-US" sz="37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Exploración Avanzada: Fine-tuning de T5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621" y="1679496"/>
            <a:ext cx="3930134" cy="52623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06636" y="7168872"/>
            <a:ext cx="6362224" cy="323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7569160" y="1634133"/>
            <a:ext cx="6362224" cy="323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Fine-tuning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un modelo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Text-to-Text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con arquitectura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Transformer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7569160" y="2027753"/>
            <a:ext cx="6362224" cy="323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modelo recibe un prompt y predice un valor para un rasgo específico.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569160" y="2421374"/>
            <a:ext cx="6362224" cy="323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Intentamos ajustar un modelo de lenguaje grande a nuestro problema.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569160" y="2814995"/>
            <a:ext cx="6362224" cy="646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Sin embargo, no logró </a:t>
            </a:r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ajustarse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correctamente a la complejidad del problema.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7724" y="1037630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4400" dirty="0">
                <a:solidFill>
                  <a:srgbClr val="38512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Conclusiones Clave del Proyecto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837724" y="2804636"/>
            <a:ext cx="7468553" cy="4387215"/>
          </a:xfrm>
          <a:prstGeom prst="roundRect">
            <a:avLst>
              <a:gd name="adj" fmla="val 818"/>
            </a:avLst>
          </a:prstGeom>
          <a:solidFill>
            <a:srgbClr val="F3E7D4"/>
          </a:solidFill>
          <a:ln/>
        </p:spPr>
      </p:sp>
      <p:sp>
        <p:nvSpPr>
          <p:cNvPr id="5" name="Shape 2"/>
          <p:cNvSpPr/>
          <p:nvPr/>
        </p:nvSpPr>
        <p:spPr>
          <a:xfrm>
            <a:off x="837724" y="2804636"/>
            <a:ext cx="3734276" cy="2576632"/>
          </a:xfrm>
          <a:prstGeom prst="roundRect">
            <a:avLst>
              <a:gd name="adj" fmla="val 1394"/>
            </a:avLst>
          </a:prstGeom>
          <a:solidFill>
            <a:srgbClr val="F3E7D4"/>
          </a:solidFill>
          <a:ln/>
        </p:spPr>
      </p:sp>
      <p:sp>
        <p:nvSpPr>
          <p:cNvPr id="6" name="Text 3"/>
          <p:cNvSpPr/>
          <p:nvPr/>
        </p:nvSpPr>
        <p:spPr>
          <a:xfrm>
            <a:off x="1077039" y="3043952"/>
            <a:ext cx="3255645" cy="422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Solución Clásica</a:t>
            </a:r>
            <a:endParaRPr lang="en-US" sz="2650" dirty="0"/>
          </a:p>
        </p:txBody>
      </p:sp>
      <p:sp>
        <p:nvSpPr>
          <p:cNvPr id="7" name="Text 4"/>
          <p:cNvSpPr/>
          <p:nvPr/>
        </p:nvSpPr>
        <p:spPr>
          <a:xfrm>
            <a:off x="1077039" y="3609856"/>
            <a:ext cx="3255645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</a:t>
            </a:r>
            <a:pPr algn="l" indent="0" marL="0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ensemble de regresores</a:t>
            </a:r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demostró ser la aproximación más </a:t>
            </a:r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8512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satisfactoria</a:t>
            </a:r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850" dirty="0"/>
          </a:p>
        </p:txBody>
      </p:sp>
      <p:sp>
        <p:nvSpPr>
          <p:cNvPr id="8" name="Shape 5"/>
          <p:cNvSpPr/>
          <p:nvPr/>
        </p:nvSpPr>
        <p:spPr>
          <a:xfrm>
            <a:off x="4572000" y="2804636"/>
            <a:ext cx="3734276" cy="2576632"/>
          </a:xfrm>
          <a:prstGeom prst="rect">
            <a:avLst/>
          </a:prstGeom>
          <a:solidFill>
            <a:srgbClr val="F3E7D4"/>
          </a:solidFill>
          <a:ln/>
        </p:spPr>
      </p:sp>
      <p:sp>
        <p:nvSpPr>
          <p:cNvPr id="9" name="Shape 6"/>
          <p:cNvSpPr/>
          <p:nvPr/>
        </p:nvSpPr>
        <p:spPr>
          <a:xfrm>
            <a:off x="4572000" y="2804636"/>
            <a:ext cx="30480" cy="2576632"/>
          </a:xfrm>
          <a:prstGeom prst="roundRect">
            <a:avLst>
              <a:gd name="adj" fmla="val 117806"/>
            </a:avLst>
          </a:prstGeom>
          <a:solidFill>
            <a:srgbClr val="D9CDBA"/>
          </a:solidFill>
          <a:ln/>
        </p:spPr>
      </p:sp>
      <p:sp>
        <p:nvSpPr>
          <p:cNvPr id="10" name="Text 7"/>
          <p:cNvSpPr/>
          <p:nvPr/>
        </p:nvSpPr>
        <p:spPr>
          <a:xfrm>
            <a:off x="4811316" y="3043952"/>
            <a:ext cx="3255645" cy="422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Solución "Tramposa"</a:t>
            </a:r>
            <a:endParaRPr lang="en-US" sz="2650" dirty="0"/>
          </a:p>
        </p:txBody>
      </p:sp>
      <p:sp>
        <p:nvSpPr>
          <p:cNvPr id="11" name="Text 8"/>
          <p:cNvSpPr/>
          <p:nvPr/>
        </p:nvSpPr>
        <p:spPr>
          <a:xfrm>
            <a:off x="4811316" y="3609856"/>
            <a:ext cx="3255645" cy="1532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Aprovechar el </a:t>
            </a:r>
            <a:pPr algn="l" indent="0" marL="0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 leakage</a:t>
            </a:r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ensemble obtuvo buenos resultados, pero no es </a:t>
            </a:r>
            <a:pPr algn="l" indent="0" marL="0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adecuada</a:t>
            </a:r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despliegues.</a:t>
            </a:r>
            <a:endParaRPr lang="en-US" sz="1850" dirty="0"/>
          </a:p>
        </p:txBody>
      </p:sp>
      <p:sp>
        <p:nvSpPr>
          <p:cNvPr id="12" name="Shape 9"/>
          <p:cNvSpPr/>
          <p:nvPr/>
        </p:nvSpPr>
        <p:spPr>
          <a:xfrm>
            <a:off x="837724" y="5381268"/>
            <a:ext cx="7468553" cy="1810583"/>
          </a:xfrm>
          <a:prstGeom prst="rect">
            <a:avLst/>
          </a:prstGeom>
          <a:solidFill>
            <a:srgbClr val="F3E7D4"/>
          </a:solidFill>
          <a:ln/>
        </p:spPr>
      </p:sp>
      <p:sp>
        <p:nvSpPr>
          <p:cNvPr id="13" name="Shape 10"/>
          <p:cNvSpPr/>
          <p:nvPr/>
        </p:nvSpPr>
        <p:spPr>
          <a:xfrm>
            <a:off x="837724" y="5381268"/>
            <a:ext cx="7468553" cy="30480"/>
          </a:xfrm>
          <a:prstGeom prst="roundRect">
            <a:avLst>
              <a:gd name="adj" fmla="val 117806"/>
            </a:avLst>
          </a:prstGeom>
          <a:solidFill>
            <a:srgbClr val="D9CDBA"/>
          </a:solidFill>
          <a:ln/>
        </p:spPr>
      </p:sp>
      <p:sp>
        <p:nvSpPr>
          <p:cNvPr id="14" name="Text 11"/>
          <p:cNvSpPr/>
          <p:nvPr/>
        </p:nvSpPr>
        <p:spPr>
          <a:xfrm>
            <a:off x="1077039" y="5620583"/>
            <a:ext cx="3379470" cy="422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50" dirty="0">
                <a:solidFill>
                  <a:srgbClr val="3A363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Solución Sofisticada</a:t>
            </a:r>
            <a:endParaRPr lang="en-US" sz="2650" dirty="0"/>
          </a:p>
        </p:txBody>
      </p:sp>
      <p:sp>
        <p:nvSpPr>
          <p:cNvPr id="15" name="Text 12"/>
          <p:cNvSpPr/>
          <p:nvPr/>
        </p:nvSpPr>
        <p:spPr>
          <a:xfrm>
            <a:off x="1077039" y="6186488"/>
            <a:ext cx="6989921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 </a:t>
            </a:r>
            <a:pPr algn="l" indent="0" marL="0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fine-tuning de T5</a:t>
            </a:r>
            <a:pPr algn="l" indent="0" marL="0">
              <a:lnSpc>
                <a:spcPts val="3000"/>
              </a:lnSpc>
              <a:buNone/>
            </a:pPr>
            <a:r>
              <a:rPr lang="en-US" sz="1850" dirty="0">
                <a:solidFill>
                  <a:srgbClr val="3A363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no logró ajustarse correctamente al problema planteado.</a:t>
            </a:r>
            <a:endParaRPr lang="en-US" sz="1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2025-12-03T11:00:04Z</dcterms:created>
  <dcterms:modified xsi:type="dcterms:W3CDTF">2025-12-03T11:00:04Z</dcterms:modified>
</cp:coreProperties>
</file>